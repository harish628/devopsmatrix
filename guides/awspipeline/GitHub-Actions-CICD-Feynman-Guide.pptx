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THE PIPELINE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Feynman Guide to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 CI/CD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97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six steps as before — now triggered by every git push, run the same way every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5120640"/>
            <a:ext cx="777240" cy="777240"/>
          </a:xfrm>
          <a:prstGeom prst="ellipse">
            <a:avLst/>
          </a:prstGeom>
          <a:solidFill>
            <a:srgbClr val="1E2E38"/>
          </a:solidFill>
          <a:ln w="12700">
            <a:solidFill>
              <a:srgbClr val="3345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120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🐙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645920" y="5394960"/>
            <a:ext cx="228600" cy="182880"/>
          </a:xfrm>
          <a:prstGeom prst="rightArrow">
            <a:avLst/>
          </a:prstGeom>
          <a:solidFill>
            <a:srgbClr val="445561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5120640"/>
            <a:ext cx="777240" cy="777240"/>
          </a:xfrm>
          <a:prstGeom prst="ellipse">
            <a:avLst/>
          </a:prstGeom>
          <a:solidFill>
            <a:srgbClr val="1E2E38"/>
          </a:solidFill>
          <a:ln w="12700">
            <a:solidFill>
              <a:srgbClr val="3345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0" y="5120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651760" y="5394960"/>
            <a:ext cx="228600" cy="182880"/>
          </a:xfrm>
          <a:prstGeom prst="rightArrow">
            <a:avLst/>
          </a:prstGeom>
          <a:solidFill>
            <a:srgbClr val="445561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5120640"/>
            <a:ext cx="777240" cy="777240"/>
          </a:xfrm>
          <a:prstGeom prst="ellipse">
            <a:avLst/>
          </a:prstGeom>
          <a:solidFill>
            <a:srgbClr val="1E2E38"/>
          </a:solidFill>
          <a:ln w="12700">
            <a:solidFill>
              <a:srgbClr val="3345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5120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🐳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657600" y="5394960"/>
            <a:ext cx="228600" cy="182880"/>
          </a:xfrm>
          <a:prstGeom prst="rightArrow">
            <a:avLst/>
          </a:prstGeom>
          <a:solidFill>
            <a:srgbClr val="445561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0" y="5120640"/>
            <a:ext cx="777240" cy="777240"/>
          </a:xfrm>
          <a:prstGeom prst="ellipse">
            <a:avLst/>
          </a:prstGeom>
          <a:solidFill>
            <a:srgbClr val="1E2E38"/>
          </a:solidFill>
          <a:ln w="12700">
            <a:solidFill>
              <a:srgbClr val="3345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0" y="5120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663440" y="5394960"/>
            <a:ext cx="228600" cy="182880"/>
          </a:xfrm>
          <a:prstGeom prst="rightArrow">
            <a:avLst/>
          </a:prstGeom>
          <a:solidFill>
            <a:srgbClr val="445561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5120640"/>
            <a:ext cx="777240" cy="777240"/>
          </a:xfrm>
          <a:prstGeom prst="ellipse">
            <a:avLst/>
          </a:prstGeom>
          <a:solidFill>
            <a:srgbClr val="1E2E38"/>
          </a:solidFill>
          <a:ln w="12700">
            <a:solidFill>
              <a:srgbClr val="3345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5120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☸️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AUTOMATED VERSION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Journey, Now Automatic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 push replaces you typing six commands by hand.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7830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6E5494"/>
            </a:solidFill>
            <a:prstDash val="solid"/>
          </a:ln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29284" y="2478024"/>
            <a:ext cx="621792" cy="621792"/>
          </a:xfrm>
          <a:prstGeom prst="ellipse">
            <a:avLst/>
          </a:prstGeom>
          <a:solidFill>
            <a:srgbClr val="6E549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29284" y="2478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🐙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17296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52044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50008" y="3072384"/>
            <a:ext cx="256032" cy="256032"/>
          </a:xfrm>
          <a:prstGeom prst="rightArrow">
            <a:avLst/>
          </a:prstGeom>
          <a:solidFill>
            <a:srgbClr val="C7CDD1"/>
          </a:solidFill>
          <a:ln/>
        </p:spPr>
      </p:sp>
      <p:sp>
        <p:nvSpPr>
          <p:cNvPr id="11" name="Shape 9"/>
          <p:cNvSpPr/>
          <p:nvPr/>
        </p:nvSpPr>
        <p:spPr>
          <a:xfrm>
            <a:off x="2624328" y="2331720"/>
            <a:ext cx="17830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6E5494"/>
            </a:solidFill>
            <a:prstDash val="solid"/>
          </a:ln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4972" y="2478024"/>
            <a:ext cx="621792" cy="621792"/>
          </a:xfrm>
          <a:prstGeom prst="ellipse">
            <a:avLst/>
          </a:prstGeom>
          <a:solidFill>
            <a:srgbClr val="6E549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04972" y="2478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17296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52044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wakes up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25696" y="3072384"/>
            <a:ext cx="256032" cy="256032"/>
          </a:xfrm>
          <a:prstGeom prst="rightArrow">
            <a:avLst/>
          </a:prstGeom>
          <a:solidFill>
            <a:srgbClr val="C7CDD1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0016" y="2331720"/>
            <a:ext cx="17830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80660" y="2478024"/>
            <a:ext cx="621792" cy="62179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80660" y="2478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4773168" y="317296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→ AWS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773168" y="352044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token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01384" y="3072384"/>
            <a:ext cx="256032" cy="256032"/>
          </a:xfrm>
          <a:prstGeom prst="rightArrow">
            <a:avLst/>
          </a:prstGeom>
          <a:solidFill>
            <a:srgbClr val="C7CDD1"/>
          </a:solidFill>
          <a:ln/>
        </p:spPr>
      </p:sp>
      <p:sp>
        <p:nvSpPr>
          <p:cNvPr id="23" name="Shape 21"/>
          <p:cNvSpPr/>
          <p:nvPr/>
        </p:nvSpPr>
        <p:spPr>
          <a:xfrm>
            <a:off x="6775704" y="2331720"/>
            <a:ext cx="17830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56348" y="247802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56348" y="2478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848856" y="317296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ECR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48856" y="352044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pushed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77072" y="3072384"/>
            <a:ext cx="256032" cy="256032"/>
          </a:xfrm>
          <a:prstGeom prst="rightArrow">
            <a:avLst/>
          </a:prstGeom>
          <a:solidFill>
            <a:srgbClr val="C7CDD1"/>
          </a:solidFill>
          <a:ln/>
        </p:spPr>
      </p:sp>
      <p:sp>
        <p:nvSpPr>
          <p:cNvPr id="29" name="Shape 27"/>
          <p:cNvSpPr/>
          <p:nvPr/>
        </p:nvSpPr>
        <p:spPr>
          <a:xfrm>
            <a:off x="8851392" y="2331720"/>
            <a:ext cx="17830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326C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432036" y="2478024"/>
            <a:ext cx="621792" cy="62179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32036" y="2478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☸️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8924544" y="317296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→ EKS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924544" y="352044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deploy.sh runs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4572000"/>
            <a:ext cx="3514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laptop required — the runner does the work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291584" y="4572000"/>
            <a:ext cx="3514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 is logged, in order, forever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7988808" y="4572000"/>
            <a:ext cx="3514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deploy.sh you already trust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CI/CD for Docker → ECR → EKS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It as a Tireless New Hire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Feynman's trick again: map the unfamiliar onto something everyday.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50008"/>
            <a:ext cx="548640" cy="548640"/>
          </a:xfrm>
          <a:prstGeom prst="ellipse">
            <a:avLst/>
          </a:prstGeom>
          <a:solidFill>
            <a:srgbClr val="1E2E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📘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585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file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25856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training manual — written once, followed exactly the same way, every single time.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447288"/>
            <a:ext cx="548640" cy="548640"/>
          </a:xfrm>
          <a:prstGeom prst="ellipse">
            <a:avLst/>
          </a:prstGeom>
          <a:solidFill>
            <a:srgbClr val="1E2E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3558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 (on: push)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35584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doorbell. It rings, they get up and start the checklist — no one has to remind them.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544568"/>
            <a:ext cx="548640" cy="548640"/>
          </a:xfrm>
          <a:prstGeom prst="ellipse">
            <a:avLst/>
          </a:prstGeom>
          <a:solidFill>
            <a:srgbClr val="1E2E3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5312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runner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45312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desk and laptop, wiped clean every morning before they sit down.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641848"/>
            <a:ext cx="548640" cy="548640"/>
          </a:xfrm>
          <a:prstGeom prst="ellipse">
            <a:avLst/>
          </a:prstGeom>
          <a:solidFill>
            <a:srgbClr val="1E2E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641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🎫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55040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OIDC role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555040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visitor badge that only opens the doors it needs to, and stops working the moment they leave.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CI/CD for Docker → ECR → EKS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WORDS TO KNOW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GitHub Actions Glossary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this guide is built from these six ideas.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6E549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3464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0896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.github/workflows/*.yml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55848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automated checklist for this repo — one YAML file.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52544" y="205740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35424" y="224028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35424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🧱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283464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35424" y="310896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runs-on: ubuntu-latest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35424" y="3355848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steps that all run on the same fresh machine.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56448" y="205740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39328" y="2240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39328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39328" y="283464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339328" y="310896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run: / - uses: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339328" y="3355848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 in a job — either a shell command or a reusable action.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98348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25780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GitHub-hosted VM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504688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disposable computer that actually executes your steps.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52544" y="420624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35424" y="4389120"/>
            <a:ext cx="502920" cy="502920"/>
          </a:xfrm>
          <a:prstGeom prst="ellipse">
            <a:avLst/>
          </a:prstGeom>
          <a:solidFill>
            <a:srgbClr val="6E549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35424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4535424" y="498348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4535424" y="525780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push / pull_request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535424" y="5504688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that wakes the workflow up.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56448" y="420624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39328" y="438912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339328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8339328" y="498348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339328" y="525780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 id-token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339328" y="5504688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runner proves its identity to AWS — no stored keys.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CI/CD for Docker → ECR → EKS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PIPELINE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Steps Become Two Jobs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build-and-push does Steps 1–5; deploy does Step 6 — and only starts if the first job succeeds.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6E549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job: build-and-push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874520"/>
            <a:ext cx="5468112" cy="457200"/>
          </a:xfrm>
          <a:prstGeom prst="roundRect">
            <a:avLst>
              <a:gd name="adj" fmla="val 16000"/>
            </a:avLst>
          </a:prstGeom>
          <a:solidFill>
            <a:srgbClr val="326CE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1874520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job: deploy  (needs: build-and-push)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5349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" y="2624328"/>
            <a:ext cx="402336" cy="402336"/>
          </a:xfrm>
          <a:prstGeom prst="ellipse">
            <a:avLst/>
          </a:prstGeom>
          <a:solidFill>
            <a:srgbClr val="6E54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5694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actions/checkout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437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repo onto the runner.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5349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944" y="3392424"/>
            <a:ext cx="402336" cy="402336"/>
          </a:xfrm>
          <a:prstGeom prst="ellipse">
            <a:avLst/>
          </a:prstGeom>
          <a:solidFill>
            <a:srgbClr val="6E549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4944" y="3392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configure-aws-credentials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6118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the OIDC token for temporary AWS creds.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548640" y="4050792"/>
            <a:ext cx="5349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" y="4160520"/>
            <a:ext cx="402336" cy="402336"/>
          </a:xfrm>
          <a:prstGeom prst="ellipse">
            <a:avLst/>
          </a:prstGeom>
          <a:solidFill>
            <a:srgbClr val="6E549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4944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1056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amazon-ecr-login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3799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Docker to ECR — no manual login.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48640" y="4818888"/>
            <a:ext cx="5349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" y="4928616"/>
            <a:ext cx="402336" cy="402336"/>
          </a:xfrm>
          <a:prstGeom prst="ellipse">
            <a:avLst/>
          </a:prstGeom>
          <a:solidFill>
            <a:srgbClr val="6E549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4944" y="4928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8737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aws ecr describe/create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51480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— or create — the ECR repository.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48640" y="5586984"/>
            <a:ext cx="5349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" y="5696712"/>
            <a:ext cx="402336" cy="402336"/>
          </a:xfrm>
          <a:prstGeom prst="ellipse">
            <a:avLst/>
          </a:prstGeom>
          <a:solidFill>
            <a:srgbClr val="6E549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94944" y="5696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56418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docker build &amp;&amp; push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59161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tag with the commit SHA, and push.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6172200" y="2514600"/>
            <a:ext cx="546811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18504" y="2624328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18504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256946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actions/checkout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858000" y="284378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repo again — this is a fresh runner.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6172200" y="3282696"/>
            <a:ext cx="546811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18504" y="3392424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318504" y="3392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0" y="333756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configure-aws-credentials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858000" y="361188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short-lived credentials for this job too.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6172200" y="4050792"/>
            <a:ext cx="546811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318504" y="4160520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318504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858000" y="410565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setup-kubectl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6858000" y="437997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kubectl on the runner.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6172200" y="4818888"/>
            <a:ext cx="546811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18504" y="4928616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318504" y="4928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858000" y="487375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./deploy.sh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6858000" y="514807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script from Part 1 — unchanged.</a:t>
            </a:r>
            <a:endParaRPr lang="en-US" sz="93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CI/CD for Docker → ECR → EKS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FILE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 &amp; Permissions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183112" cy="2103120"/>
          </a:xfrm>
          <a:prstGeom prst="roundRect">
            <a:avLst>
              <a:gd name="adj" fmla="val 2609"/>
            </a:avLst>
          </a:prstGeom>
          <a:solidFill>
            <a:srgbClr val="0E171D"/>
          </a:solidFill>
          <a:ln w="12700">
            <a:solidFill>
              <a:srgbClr val="2A3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44752"/>
            <a:ext cx="1072591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[main]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id-token: write   # lets this workflow request an OIDC token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contents: read    # only needs to read the repo, nothing more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6576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push  </a:t>
            </a:r>
            <a:pPr indent="0" marL="0">
              <a:buNone/>
            </a:pPr>
            <a:r>
              <a:rPr lang="en-US" sz="1250" dirty="0">
                <a:solidFill>
                  <a:srgbClr val="C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doorbell. Only a push to main starts the checklist — not every branch, not every PR.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4348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 id-token: write  </a:t>
            </a:r>
            <a:pPr indent="0" marL="0">
              <a:buNone/>
            </a:pPr>
            <a:r>
              <a:rPr lang="en-US" sz="1250" dirty="0">
                <a:solidFill>
                  <a:srgbClr val="C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line that turns on OIDC. Without it, there's no badge to show AWS at all.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5212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 contents: read  </a:t>
            </a:r>
            <a:pPr indent="0" marL="0">
              <a:buNone/>
            </a:pPr>
            <a:r>
              <a:rPr lang="en-US" sz="1250" dirty="0">
                <a:solidFill>
                  <a:srgbClr val="C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by default — this workflow can't push code or open issues, only read the repo.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STORED AWS KEYS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OIDC Actually Works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upgrade over running this by hand: nothing secret lives in GitHub.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FF3D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500" i="1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AWS keys are stored anywhere. The runner shows up, proves which repo and branch it is, and AWS hands it a one-hour visitor badge.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943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898648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7889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requests a token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9981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GitHub's own OIDC provider signs a short-lived JSON token identifying this exact workflow run.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776472"/>
            <a:ext cx="5943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97764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679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checks the trust policy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1788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IAM role only trusts tokens from a specific repo and branch — shown on the right.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855464"/>
            <a:ext cx="5943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5056632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5056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94690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returns temp credentials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2578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for about an hour, scoped to exactly what the role allows. Nothing to leak, nothing to rotate.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2697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trust policy (who's allowed to ask)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3017520"/>
            <a:ext cx="4937760" cy="2834640"/>
          </a:xfrm>
          <a:prstGeom prst="roundRect">
            <a:avLst>
              <a:gd name="adj" fmla="val 1935"/>
            </a:avLst>
          </a:prstGeom>
          <a:solidFill>
            <a:srgbClr val="0E171D"/>
          </a:solidFill>
          <a:ln w="12700">
            <a:solidFill>
              <a:srgbClr val="2A3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3182112"/>
            <a:ext cx="448056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"Effect": "Allow",</a:t>
            </a:r>
            <a:endParaRPr lang="en-US" sz="10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"Principal": {"Federated":</a:t>
            </a:r>
            <a:endParaRPr lang="en-US" sz="10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"...oidc-provider/token.</a:t>
            </a:r>
            <a:endParaRPr lang="en-US" sz="10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actions.githubusercontent.com"},</a:t>
            </a:r>
            <a:endParaRPr lang="en-US" sz="10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"Action":</a:t>
            </a:r>
            <a:endParaRPr lang="en-US" sz="10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"sts:AssumeRoleWithWebIdentity",</a:t>
            </a:r>
            <a:endParaRPr lang="en-US" sz="10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"Condition": {"StringEquals": {</a:t>
            </a:r>
            <a:endParaRPr lang="en-US" sz="10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"token.actions.githubusercontent.com:sub":</a:t>
            </a:r>
            <a:endParaRPr lang="en-US" sz="10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"repo:org/static-site:ref:</a:t>
            </a:r>
            <a:endParaRPr lang="en-US" sz="10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refs/heads/main"</a:t>
            </a:r>
            <a:endParaRPr lang="en-US" sz="10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0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CI/CD for Docker → ECR → EKS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WORKFLOW — JOB 1 OF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build-and-push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5394960"/>
          </a:xfrm>
          <a:prstGeom prst="roundRect">
            <a:avLst>
              <a:gd name="adj" fmla="val 1017"/>
            </a:avLst>
          </a:prstGeom>
          <a:solidFill>
            <a:srgbClr val="0E171D"/>
          </a:solidFill>
          <a:ln w="12700">
            <a:solidFill>
              <a:srgbClr val="2A3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35024"/>
            <a:ext cx="107259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build-and-push: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outputs: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image_uri: ${{ steps.image.outputs.uri }}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Configure AWS credentials (OIDC)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aws-actions/configure-aws-credentials@v4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role-to-assume: arn:aws:iam::123456789012:role/github-actions-static-site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aws-region: us-east-1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Login to Amazon ECR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id: ecr-login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aws-actions/amazon-ecr-login@v2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Ensure ECR repository exists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|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aws ecr describe-repositories --repository-names static-site || \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aws ecr create-repository --repository-name static-site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Build, tag, and push image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id: image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env: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ECR_REGISTRY: ${{ steps.ecr-login.outputs.registry }}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IMAGE_TAG: ${{ github.sha }}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|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docker build -t $ECR_REGISTRY/static-site:$IMAGE_TAG .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docker push $ECR_REGISTRY/static-site:$IMAGE_TAG</a:t>
            </a:r>
            <a:endParaRPr lang="en-US" sz="94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echo "uri=$ECR_REGISTRY/static-site:$IMAGE_TAG" &gt;&gt; "$GITHUB_OUTPUT"</a:t>
            </a:r>
            <a:endParaRPr lang="en-US" sz="9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WORKFLOW — JOB 2 OF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83112" cy="4160520"/>
          </a:xfrm>
          <a:prstGeom prst="roundRect">
            <a:avLst>
              <a:gd name="adj" fmla="val 1319"/>
            </a:avLst>
          </a:prstGeom>
          <a:solidFill>
            <a:srgbClr val="0E171D"/>
          </a:solidFill>
          <a:ln w="12700">
            <a:solidFill>
              <a:srgbClr val="2A3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53312"/>
            <a:ext cx="10725912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deploy: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build-and-push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 production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Configure AWS credentials (OIDC)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aws-actions/configure-aws-credentials@v4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role-to-assume: arn:aws:iam::123456789012:role/github-actions-static-site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aws-region: us-east-1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Install kubectl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azure/setup-kubectl@v4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Deploy to EKS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env: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AWS_REGION: us-east-1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IMAGE_URI: ${{ needs.build-and-push.outputs.image_uri }}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3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./deploy.sh</a:t>
            </a:r>
            <a:endParaRPr lang="en-US" sz="108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53212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needs: build-and-push  </a:t>
            </a:r>
            <a:pPr indent="0" marL="0">
              <a:buNone/>
            </a:pPr>
            <a:r>
              <a:rPr lang="en-US" sz="1250" dirty="0">
                <a:solidFill>
                  <a:srgbClr val="C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this job won't even start if the build fails. </a:t>
            </a:r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./deploy.sh  </a:t>
            </a:r>
            <a:pPr indent="0" marL="0">
              <a:buNone/>
            </a:pPr>
            <a:r>
              <a:rPr lang="en-US" sz="1250" dirty="0">
                <a:solidFill>
                  <a:srgbClr val="C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exact same script from Part 1, completely untouched.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SETTINGS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Configure in GitHub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what's missing: no AWS access key, no secret key, anywhere.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variables (Settings → Secrets and variables → Actions)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754880"/>
                <a:gridCol w="30449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for static-site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or Variable?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AWS_ROLE_ARN (in workflow)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arn:aws:iam::123456789012:role/github-actions-static-site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sensitive — the trust policy is the real 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AWS_REGION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us-east-1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EKS_CLUSTER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ECR repository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static-site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access key / secret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not needed 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stored, thanks to OIDC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AF1F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55321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of OIDC:  </a:t>
            </a:r>
            <a:pPr indent="0" marL="0">
              <a:buNone/>
            </a:pPr>
            <a:r>
              <a:rPr lang="en-US" sz="1200" dirty="0">
                <a:solidFill>
                  <a:srgbClr val="2A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AWS_SECRET_ACCESS_KEY sitting in your repo for someone to leak. The IAM trust policy is the only key, and it only opens for this exact repo and branch.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CI/CD for Docker → ECR → EKS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git push to a Live Update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Part 1, now wired to run itself.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62763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6E5494"/>
            </a:solidFill>
            <a:prstDash val="solid"/>
          </a:ln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295144"/>
            <a:ext cx="621792" cy="621792"/>
          </a:xfrm>
          <a:prstGeom prst="ellipse">
            <a:avLst/>
          </a:prstGeom>
          <a:solidFill>
            <a:srgbClr val="6E549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2951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🐙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9900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3375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94560" y="2820924"/>
            <a:ext cx="182880" cy="256032"/>
          </a:xfrm>
          <a:prstGeom prst="rightArrow">
            <a:avLst/>
          </a:prstGeom>
          <a:solidFill>
            <a:srgbClr val="C7CDD1"/>
          </a:solidFill>
          <a:ln/>
        </p:spPr>
      </p:sp>
      <p:sp>
        <p:nvSpPr>
          <p:cNvPr id="11" name="Shape 9"/>
          <p:cNvSpPr/>
          <p:nvPr/>
        </p:nvSpPr>
        <p:spPr>
          <a:xfrm>
            <a:off x="2395728" y="2148840"/>
            <a:ext cx="162763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6E5494"/>
            </a:solidFill>
            <a:prstDash val="solid"/>
          </a:ln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98648" y="2295144"/>
            <a:ext cx="621792" cy="621792"/>
          </a:xfrm>
          <a:prstGeom prst="ellipse">
            <a:avLst/>
          </a:prstGeom>
          <a:solidFill>
            <a:srgbClr val="6E549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98648" y="22951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29900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3375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starts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41648" y="2820924"/>
            <a:ext cx="182880" cy="256032"/>
          </a:xfrm>
          <a:prstGeom prst="rightArrow">
            <a:avLst/>
          </a:prstGeom>
          <a:solidFill>
            <a:srgbClr val="C7CDD1"/>
          </a:solidFill>
          <a:ln/>
        </p:spPr>
      </p:sp>
      <p:sp>
        <p:nvSpPr>
          <p:cNvPr id="17" name="Shape 15"/>
          <p:cNvSpPr/>
          <p:nvPr/>
        </p:nvSpPr>
        <p:spPr>
          <a:xfrm>
            <a:off x="4242816" y="2148840"/>
            <a:ext cx="162763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45736" y="2295144"/>
            <a:ext cx="621792" cy="62179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45736" y="22951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4315968" y="29900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315968" y="33375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creds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88736" y="2820924"/>
            <a:ext cx="182880" cy="256032"/>
          </a:xfrm>
          <a:prstGeom prst="rightArrow">
            <a:avLst/>
          </a:prstGeom>
          <a:solidFill>
            <a:srgbClr val="C7CDD1"/>
          </a:solidFill>
          <a:ln/>
        </p:spPr>
      </p:sp>
      <p:sp>
        <p:nvSpPr>
          <p:cNvPr id="23" name="Shape 21"/>
          <p:cNvSpPr/>
          <p:nvPr/>
        </p:nvSpPr>
        <p:spPr>
          <a:xfrm>
            <a:off x="6089904" y="2148840"/>
            <a:ext cx="162763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92824" y="2295144"/>
            <a:ext cx="621792" cy="62179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92824" y="22951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🐳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163056" y="29900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33375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35824" y="2820924"/>
            <a:ext cx="182880" cy="256032"/>
          </a:xfrm>
          <a:prstGeom prst="rightArrow">
            <a:avLst/>
          </a:prstGeom>
          <a:solidFill>
            <a:srgbClr val="C7CDD1"/>
          </a:solidFill>
          <a:ln/>
        </p:spPr>
      </p:sp>
      <p:sp>
        <p:nvSpPr>
          <p:cNvPr id="29" name="Shape 27"/>
          <p:cNvSpPr/>
          <p:nvPr/>
        </p:nvSpPr>
        <p:spPr>
          <a:xfrm>
            <a:off x="7936992" y="2148840"/>
            <a:ext cx="162763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39912" y="229514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39912" y="22951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8010144" y="29900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010144" y="33375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ECR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582912" y="2820924"/>
            <a:ext cx="182880" cy="256032"/>
          </a:xfrm>
          <a:prstGeom prst="rightArrow">
            <a:avLst/>
          </a:prstGeom>
          <a:solidFill>
            <a:srgbClr val="C7CDD1"/>
          </a:solidFill>
          <a:ln/>
        </p:spPr>
      </p:sp>
      <p:sp>
        <p:nvSpPr>
          <p:cNvPr id="35" name="Shape 33"/>
          <p:cNvSpPr/>
          <p:nvPr/>
        </p:nvSpPr>
        <p:spPr>
          <a:xfrm>
            <a:off x="9784080" y="2148840"/>
            <a:ext cx="162763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326C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287000" y="2295144"/>
            <a:ext cx="621792" cy="62179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287000" y="22951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☸️</a:t>
            </a:r>
            <a:endParaRPr lang="en-US" sz="2400" dirty="0"/>
          </a:p>
        </p:txBody>
      </p:sp>
      <p:sp>
        <p:nvSpPr>
          <p:cNvPr id="38" name="Text 36"/>
          <p:cNvSpPr txBox="1"/>
          <p:nvPr/>
        </p:nvSpPr>
        <p:spPr>
          <a:xfrm>
            <a:off x="9857232" y="29900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deploy.sh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857232" y="33375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160520"/>
            <a:ext cx="3453384" cy="1737360"/>
          </a:xfrm>
          <a:prstGeom prst="roundRect">
            <a:avLst>
              <a:gd name="adj" fmla="val 5263"/>
            </a:avLst>
          </a:prstGeom>
          <a:solidFill>
            <a:srgbClr val="EEF2F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297680"/>
            <a:ext cx="3453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♻️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4800600"/>
            <a:ext cx="3179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31520" y="5120640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can merge to main can ship — no one needs Docker or kubectl locally.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4367784" y="4160520"/>
            <a:ext cx="3453384" cy="1737360"/>
          </a:xfrm>
          <a:prstGeom prst="roundRect">
            <a:avLst>
              <a:gd name="adj" fmla="val 5263"/>
            </a:avLst>
          </a:prstGeom>
          <a:solidFill>
            <a:srgbClr val="EEF2F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367784" y="4297680"/>
            <a:ext cx="3453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46" name="Text 44"/>
          <p:cNvSpPr txBox="1"/>
          <p:nvPr/>
        </p:nvSpPr>
        <p:spPr>
          <a:xfrm>
            <a:off x="4504944" y="4800600"/>
            <a:ext cx="3179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550664" y="5120640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 and deploy is a logged Actions run, tied to a commit and an author.</a:t>
            </a:r>
            <a:endParaRPr lang="en-US" sz="1030" dirty="0"/>
          </a:p>
        </p:txBody>
      </p:sp>
      <p:sp>
        <p:nvSpPr>
          <p:cNvPr id="48" name="Shape 46"/>
          <p:cNvSpPr/>
          <p:nvPr/>
        </p:nvSpPr>
        <p:spPr>
          <a:xfrm>
            <a:off x="8186928" y="4160520"/>
            <a:ext cx="3453384" cy="1737360"/>
          </a:xfrm>
          <a:prstGeom prst="roundRect">
            <a:avLst>
              <a:gd name="adj" fmla="val 5263"/>
            </a:avLst>
          </a:prstGeom>
          <a:solidFill>
            <a:srgbClr val="EEF2F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186928" y="4297680"/>
            <a:ext cx="3453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⏪</a:t>
            </a:r>
            <a:endParaRPr lang="en-US" sz="2400" dirty="0"/>
          </a:p>
        </p:txBody>
      </p:sp>
      <p:sp>
        <p:nvSpPr>
          <p:cNvPr id="50" name="Text 48"/>
          <p:cNvSpPr txBox="1"/>
          <p:nvPr/>
        </p:nvSpPr>
        <p:spPr>
          <a:xfrm>
            <a:off x="8324088" y="4800600"/>
            <a:ext cx="3179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rollback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8369808" y="5120640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the commit, push again — the same workflow redeploys the old version.</a:t>
            </a:r>
            <a:endParaRPr lang="en-US" sz="103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CI/CD for Docker → ECR → EKS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FOR NEXT TIME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This for Any Repo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doesn't know or care that it's a static site — swap five things and it runs anywhere.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0867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2148840"/>
            <a:ext cx="457200" cy="457200"/>
          </a:xfrm>
          <a:prstGeom prst="ellipse">
            <a:avLst/>
          </a:prstGeom>
          <a:solidFill>
            <a:srgbClr val="6E549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9494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075688"/>
            <a:ext cx="44942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workflow file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86584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.github/workflows/deploy.yml — identical structure, any repo.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1636" y="1965960"/>
            <a:ext cx="540867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77940" y="2148840"/>
            <a:ext cx="457200" cy="457200"/>
          </a:xfrm>
          <a:prstGeom prst="ellipse">
            <a:avLst/>
          </a:prstGeom>
          <a:solidFill>
            <a:srgbClr val="6E549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779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63156" y="2075688"/>
            <a:ext cx="44942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IAM role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963156" y="2386584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repo (or reuse one, scoped by trust-policy condition) via OIDC.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540867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" y="3246120"/>
            <a:ext cx="457200" cy="457200"/>
          </a:xfrm>
          <a:prstGeom prst="ellipse">
            <a:avLst/>
          </a:prstGeom>
          <a:solidFill>
            <a:srgbClr val="6E549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944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172968"/>
            <a:ext cx="44942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trust policy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483864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repo:org/&lt;repo&gt;:ref:refs/heads/main to match the new repo.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31636" y="3063240"/>
            <a:ext cx="540867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77940" y="3246120"/>
            <a:ext cx="457200" cy="457200"/>
          </a:xfrm>
          <a:prstGeom prst="ellipse">
            <a:avLst/>
          </a:prstGeom>
          <a:solidFill>
            <a:srgbClr val="6E549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779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63156" y="3172968"/>
            <a:ext cx="44942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repo variables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963156" y="3483864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AWS_REGION, EKS_CLUSTER, and the ECR repository name for this service.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540867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4944" y="4343400"/>
            <a:ext cx="457200" cy="457200"/>
          </a:xfrm>
          <a:prstGeom prst="ellipse">
            <a:avLst/>
          </a:prstGeom>
          <a:solidFill>
            <a:srgbClr val="6E549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4944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4270248"/>
            <a:ext cx="44942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deploy.sh as-is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280160" y="4581144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already reads IMAGE_URI and AWS_REGION from the environment — nothing to change.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31636" y="4160520"/>
            <a:ext cx="540867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53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77940" y="4343400"/>
            <a:ext cx="457200" cy="457200"/>
          </a:xfrm>
          <a:prstGeom prst="ellipse">
            <a:avLst/>
          </a:prstGeom>
          <a:solidFill>
            <a:srgbClr val="6E549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779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963156" y="4270248"/>
            <a:ext cx="44942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K8s objects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963156" y="4581144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manifests: swap static-site for the new service name, everywhere.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CI/CD for Docker → ECR → EKS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Robot Learned the Checklist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918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AEB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code. A runner wakes up, borrows a one-hour AWS badge,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AEB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builds, ships to ECR, and runs the same deploy.sh you already trust.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wire this into your repo together.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2026-09-29T19:15:53Z</dcterms:created>
  <dcterms:modified xsi:type="dcterms:W3CDTF">2026-09-29T19:15:53Z</dcterms:modified>
</cp:coreProperties>
</file>